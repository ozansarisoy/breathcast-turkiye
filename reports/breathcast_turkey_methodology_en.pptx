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B2A4A"/>
                </a:solidFill>
                <a:latin typeface="Calibri"/>
              </a:rPr>
              <a:t>RMSE by Disease Group (SARIMA vs Prophet)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SARIMA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Lower Resp.
Tract</c:v>
                  </c:pt>
                  <c:pt idx="1">
                    <c:v>COVID-19</c:v>
                  </c:pt>
                  <c:pt idx="2">
                    <c:v>Influenza/ILI</c:v>
                  </c:pt>
                  <c:pt idx="3">
                    <c:v>Tuberculosis</c:v>
                  </c:pt>
                  <c:pt idx="4">
                    <c:v>URTI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0.078</c:v>
                </c:pt>
                <c:pt idx="1">
                  <c:v>2.737</c:v>
                </c:pt>
                <c:pt idx="2">
                  <c:v>0.091</c:v>
                </c:pt>
                <c:pt idx="3">
                  <c:v>0.018</c:v>
                </c:pt>
                <c:pt idx="4">
                  <c:v>0.17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Prophet</c:v>
                </c:pt>
              </c:strCache>
            </c:strRef>
          </c:tx>
          <c:spPr>
            <a:solidFill>
              <a:srgbClr val="D9642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Lower Resp.
Tract</c:v>
                  </c:pt>
                  <c:pt idx="1">
                    <c:v>COVID-19</c:v>
                  </c:pt>
                  <c:pt idx="2">
                    <c:v>Influenza/ILI</c:v>
                  </c:pt>
                  <c:pt idx="3">
                    <c:v>Tuberculosis</c:v>
                  </c:pt>
                  <c:pt idx="4">
                    <c:v>URTI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0.075</c:v>
                </c:pt>
                <c:pt idx="1">
                  <c:v>4.38</c:v>
                </c:pt>
                <c:pt idx="2">
                  <c:v>0.13</c:v>
                </c:pt>
                <c:pt idx="3">
                  <c:v>0.012</c:v>
                </c:pt>
                <c:pt idx="4">
                  <c:v>0.168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B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24365E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663440"/>
            <a:ext cx="3657600" cy="3657600"/>
          </a:xfrm>
          <a:prstGeom prst="ellipse">
            <a:avLst/>
          </a:prstGeom>
          <a:solidFill>
            <a:srgbClr val="24365E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502920"/>
            <a:ext cx="822960" cy="822960"/>
          </a:xfrm>
          <a:prstGeom prst="ellipse">
            <a:avLst/>
          </a:prstGeom>
          <a:solidFill>
            <a:srgbClr val="0F6E6E"/>
          </a:solidFill>
          <a:ln/>
        </p:spPr>
      </p:sp>
      <p:pic>
        <p:nvPicPr>
          <p:cNvPr id="5" name="Image 0" descr="/home/claude/pptx_work/icons/activit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58368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CAPSTONE PROJECT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31520" y="182880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Turkey Respiratory &amp; Infectious</a:t>
            </a:r>
            <a:endParaRPr lang="en-US" sz="3600" dirty="0"/>
          </a:p>
          <a:p>
            <a:pPr algn="l"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Surveillance Dashboard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777240" y="3611880"/>
            <a:ext cx="1554480" cy="54864"/>
          </a:xfrm>
          <a:prstGeom prst="rect">
            <a:avLst/>
          </a:prstGeom>
          <a:solidFill>
            <a:srgbClr val="D9642C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38404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3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and Detailed Function Rationale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77240" y="4617720"/>
            <a:ext cx="1472184" cy="420624"/>
          </a:xfrm>
          <a:prstGeom prst="roundRect">
            <a:avLst>
              <a:gd name="adj" fmla="val 50000"/>
            </a:avLst>
          </a:prstGeom>
          <a:solidFill>
            <a:srgbClr val="2C3F6B"/>
          </a:solidFill>
          <a:ln w="9525">
            <a:solidFill>
              <a:srgbClr val="3E518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4617720"/>
            <a:ext cx="1472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Provinces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450592" y="4617720"/>
            <a:ext cx="1856232" cy="420624"/>
          </a:xfrm>
          <a:prstGeom prst="roundRect">
            <a:avLst>
              <a:gd name="adj" fmla="val 50000"/>
            </a:avLst>
          </a:prstGeom>
          <a:solidFill>
            <a:srgbClr val="2C3F6B"/>
          </a:solidFill>
          <a:ln w="9525">
            <a:solidFill>
              <a:srgbClr val="3E518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50592" y="4617720"/>
            <a:ext cx="18562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Disease Groups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07992" y="4617720"/>
            <a:ext cx="1184148" cy="420624"/>
          </a:xfrm>
          <a:prstGeom prst="roundRect">
            <a:avLst>
              <a:gd name="adj" fmla="val 50000"/>
            </a:avLst>
          </a:prstGeom>
          <a:solidFill>
            <a:srgbClr val="2C3F6B"/>
          </a:solidFill>
          <a:ln w="9525">
            <a:solidFill>
              <a:srgbClr val="3E518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07992" y="4617720"/>
            <a:ext cx="11841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 Weeks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893308" y="4617720"/>
            <a:ext cx="1856232" cy="420624"/>
          </a:xfrm>
          <a:prstGeom prst="roundRect">
            <a:avLst>
              <a:gd name="adj" fmla="val 50000"/>
            </a:avLst>
          </a:prstGeom>
          <a:solidFill>
            <a:srgbClr val="2C3F6B"/>
          </a:solidFill>
          <a:ln w="9525">
            <a:solidFill>
              <a:srgbClr val="3E518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93308" y="4617720"/>
            <a:ext cx="18562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 Families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7724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Appendix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 from data source to interactive dashboard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084832" cy="3794760"/>
          </a:xfrm>
          <a:prstGeom prst="roundRect">
            <a:avLst>
              <a:gd name="adj" fmla="val 4386"/>
            </a:avLst>
          </a:prstGeom>
          <a:solidFill>
            <a:srgbClr val="F4F6F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203704"/>
            <a:ext cx="566928" cy="566928"/>
          </a:xfrm>
          <a:prstGeom prst="ellipse">
            <a:avLst/>
          </a:prstGeom>
          <a:solidFill>
            <a:srgbClr val="E3F2F0"/>
          </a:solidFill>
          <a:ln/>
        </p:spPr>
      </p:sp>
      <p:pic>
        <p:nvPicPr>
          <p:cNvPr id="7" name="Image 0" descr="/home/claude/pptx_work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225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2219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31520" y="2953512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Identification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1520" y="3730752"/>
            <a:ext cx="171907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TurkStat population data + real anchor points (Ministry of Health / TB Control Dept.)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615184" y="33832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798064" y="1965960"/>
            <a:ext cx="2084832" cy="3794760"/>
          </a:xfrm>
          <a:prstGeom prst="roundRect">
            <a:avLst>
              <a:gd name="adj" fmla="val 4386"/>
            </a:avLst>
          </a:prstGeom>
          <a:solidFill>
            <a:srgbClr val="F4F6F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99232" y="2203704"/>
            <a:ext cx="566928" cy="566928"/>
          </a:xfrm>
          <a:prstGeom prst="ellipse">
            <a:avLst/>
          </a:prstGeom>
          <a:solidFill>
            <a:srgbClr val="FBE7DA"/>
          </a:solidFill>
          <a:ln/>
        </p:spPr>
      </p:sp>
      <p:pic>
        <p:nvPicPr>
          <p:cNvPr id="14" name="Image 1" descr="/home/claude/pptx_work/icons/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8104" y="2322576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12464" y="22219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2980944" y="2953512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generate_data.py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2980944" y="3730752"/>
            <a:ext cx="171907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proxy time series generation (81 provinces x 5 disease groups)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4864608" y="33832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047488" y="1965960"/>
            <a:ext cx="2084832" cy="3794760"/>
          </a:xfrm>
          <a:prstGeom prst="roundRect">
            <a:avLst>
              <a:gd name="adj" fmla="val 4386"/>
            </a:avLst>
          </a:prstGeom>
          <a:solidFill>
            <a:srgbClr val="F4F6F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248656" y="2203704"/>
            <a:ext cx="566928" cy="566928"/>
          </a:xfrm>
          <a:prstGeom prst="ellipse">
            <a:avLst/>
          </a:prstGeom>
          <a:solidFill>
            <a:srgbClr val="E4E7F1"/>
          </a:solidFill>
          <a:ln/>
        </p:spPr>
      </p:sp>
      <p:pic>
        <p:nvPicPr>
          <p:cNvPr id="21" name="Image 2" descr="/home/claude/pptx_work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528" y="2322576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961888" y="22219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5230368" y="2953512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clean_data.py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5230368" y="3730752"/>
            <a:ext cx="171907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missing-week completion, lag/rolling feature engineering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7114032" y="33832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7296912" y="1965960"/>
            <a:ext cx="2084832" cy="3794760"/>
          </a:xfrm>
          <a:prstGeom prst="roundRect">
            <a:avLst>
              <a:gd name="adj" fmla="val 4386"/>
            </a:avLst>
          </a:prstGeom>
          <a:solidFill>
            <a:srgbClr val="F4F6F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0" y="2203704"/>
            <a:ext cx="566928" cy="566928"/>
          </a:xfrm>
          <a:prstGeom prst="ellipse">
            <a:avLst/>
          </a:prstGeom>
          <a:solidFill>
            <a:srgbClr val="E4E7F1"/>
          </a:solidFill>
          <a:ln/>
        </p:spPr>
      </p:sp>
      <p:pic>
        <p:nvPicPr>
          <p:cNvPr id="28" name="Image 3" descr="/home/claude/pptx_work/icons/cp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952" y="2322576"/>
            <a:ext cx="329184" cy="32918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211312" y="22219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4"/>
          <p:cNvSpPr/>
          <p:nvPr/>
        </p:nvSpPr>
        <p:spPr>
          <a:xfrm>
            <a:off x="7479792" y="2953512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train_models.py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7479792" y="3730752"/>
            <a:ext cx="171907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SARIMA, Prophet, LightGBM training and comparison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9363456" y="33832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27"/>
          <p:cNvSpPr/>
          <p:nvPr/>
        </p:nvSpPr>
        <p:spPr>
          <a:xfrm>
            <a:off x="9546336" y="1965960"/>
            <a:ext cx="2084832" cy="3794760"/>
          </a:xfrm>
          <a:prstGeom prst="roundRect">
            <a:avLst>
              <a:gd name="adj" fmla="val 4386"/>
            </a:avLst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9747504" y="2203704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5" name="Image 4" descr="/home/claude/pptx_work/icons/monito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6376" y="2322576"/>
            <a:ext cx="329184" cy="32918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0460736" y="22219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7" name="Text 30"/>
          <p:cNvSpPr/>
          <p:nvPr/>
        </p:nvSpPr>
        <p:spPr>
          <a:xfrm>
            <a:off x="9729216" y="2953512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streamlit_app/app.py</a:t>
            </a:r>
            <a:endParaRPr lang="en-US" sz="1350" dirty="0"/>
          </a:p>
        </p:txBody>
      </p:sp>
      <p:sp>
        <p:nvSpPr>
          <p:cNvPr id="38" name="Text 31"/>
          <p:cNvSpPr/>
          <p:nvPr/>
        </p:nvSpPr>
        <p:spPr>
          <a:xfrm>
            <a:off x="9729216" y="3730752"/>
            <a:ext cx="171907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3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4-tab interactive dashboard with live forecasting</a:t>
            </a: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BreathCast Turkey - Respiratory &amp; Infectious Disease Surveillance Dashboard  ·  Methodology</a:t>
            </a:r>
            <a:endParaRPr lang="en-US" sz="850" dirty="0"/>
          </a:p>
        </p:txBody>
      </p:sp>
      <p:sp>
        <p:nvSpPr>
          <p:cNvPr id="40" name="Text 3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by Disease Group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anchor point + completion method was defined separately for each group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292840" y="411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3F2F0"/>
          </a:solidFill>
          <a:ln/>
        </p:spPr>
      </p:sp>
      <p:pic>
        <p:nvPicPr>
          <p:cNvPr id="6" name="Image 0" descr="/home/claude/pptx_work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521208"/>
            <a:ext cx="237744" cy="237744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72768"/>
          <a:ext cx="11292840" cy="4526280"/>
        </p:xfrm>
        <a:graphic>
          <a:graphicData uri="http://schemas.openxmlformats.org/drawingml/2006/table">
            <a:tbl>
              <a:tblPr/>
              <a:tblGrid>
                <a:gridCol w="1828800"/>
                <a:gridCol w="3931920"/>
                <a:gridCol w="278892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 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Data 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/ Resolution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Completion 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COVID-19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Ministry of Health press-released province-level incidence maps (Apr 1 2020, Sep 12 2020, Apr 24-30 2021, Jan 8-14 2022)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Province-level, 4 cross-sectional dates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Interpolated using seasonality + known pandemic wave dates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Tuberculosis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 Control Department annual NATIONAL report (hsgm.saglik.gov.tr)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National, annual (2020: 10.6 . 2022: 11.0 . 2024: 10.4 / 100k)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 value distributed by province population + density weighting, ~2%/yr declining trend applied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Influenza / ILI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/ ECDC Northern Hemisphere respiratory surveillance pattern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seasonal pattern (no exact province data)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Scaled by province population density with a high seasonality coefficient (winter peak)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URTI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WHO/ECDC general respiratory infection seasonality pattern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seasonal pattern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province-density sensitivity (common in every province)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Respiratory Tract / Pneumonia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WHO/ECDC general respiratory infection seasonality pattern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seasonal pattern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seasonality + density sensitivity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19963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TurkStat province population (2022, ADNKS) was used as the common normalization/weighting basis across all groups.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BreathCast Turkey - Respiratory &amp; Infectious Disease Surveillance Dashboard  ·  Methodology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Calibrated Proxy Data?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-&gt; Method -&gt; Transparency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292840" y="411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4E7F1"/>
          </a:solidFill>
          <a:ln/>
        </p:spPr>
      </p:sp>
      <p:pic>
        <p:nvPicPr>
          <p:cNvPr id="6" name="Image 0" descr="/home/claude/pptx_work/icons/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521208"/>
            <a:ext cx="237744" cy="2377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783080"/>
            <a:ext cx="3520440" cy="4251960"/>
          </a:xfrm>
          <a:prstGeom prst="roundRect">
            <a:avLst>
              <a:gd name="adj" fmla="val 2338"/>
            </a:avLst>
          </a:prstGeom>
          <a:solidFill>
            <a:srgbClr val="F4F6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2057400"/>
            <a:ext cx="566928" cy="566928"/>
          </a:xfrm>
          <a:prstGeom prst="ellipse">
            <a:avLst/>
          </a:prstGeom>
          <a:solidFill>
            <a:srgbClr val="D9642C"/>
          </a:solidFill>
          <a:ln/>
        </p:spPr>
      </p:sp>
      <p:pic>
        <p:nvPicPr>
          <p:cNvPr id="9" name="Image 1" descr="/home/claude/pptx_work/icons/ale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219456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4672" y="2770632"/>
            <a:ext cx="3008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804672" y="3227832"/>
            <a:ext cx="300837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Turkey's Ministry of Health has never published province-level weekly/daily data as a continuous CSV/API for any disease group; only cross-sectional press releases and annual national reports exist.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25112" y="1783080"/>
            <a:ext cx="3520440" cy="4251960"/>
          </a:xfrm>
          <a:prstGeom prst="roundRect">
            <a:avLst>
              <a:gd name="adj" fmla="val 2338"/>
            </a:avLst>
          </a:prstGeom>
          <a:solidFill>
            <a:srgbClr val="F4F6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81144" y="2057400"/>
            <a:ext cx="566928" cy="566928"/>
          </a:xfrm>
          <a:prstGeom prst="ellipse">
            <a:avLst/>
          </a:prstGeom>
          <a:solidFill>
            <a:srgbClr val="0F6E6E"/>
          </a:solidFill>
          <a:ln/>
        </p:spPr>
      </p:sp>
      <p:pic>
        <p:nvPicPr>
          <p:cNvPr id="14" name="Image 2" descr="/home/claude/pptx_work/icons/filt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304" y="219456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81144" y="2770632"/>
            <a:ext cx="3008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4581144" y="3227832"/>
            <a:ext cx="300837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announcement/report values were fixed as 'anchor points'; the weeks in between were filled in a statistically consistent way using TurkStat population, province density category, and known seasonality patterns.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101584" y="1783080"/>
            <a:ext cx="3520440" cy="4251960"/>
          </a:xfrm>
          <a:prstGeom prst="roundRect">
            <a:avLst>
              <a:gd name="adj" fmla="val 2338"/>
            </a:avLst>
          </a:prstGeom>
          <a:solidFill>
            <a:srgbClr val="F4F6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357616" y="20574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9" name="Image 3" descr="/home/claude/pptx_work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4776" y="2194560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57616" y="2770632"/>
            <a:ext cx="3008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8357616" y="3227832"/>
            <a:ext cx="300837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generated row is tagged in the 'source' column: real_anchor / calibrated_proxy / interpolated. If real data becomes available, it can be substituted directly using the same schema.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BreathCast Turkey - Respiratory &amp; Infectious Disease Surveillance Dashboard  ·  Methodology</a:t>
            </a:r>
            <a:endParaRPr lang="en-US" sz="850" dirty="0"/>
          </a:p>
        </p:txBody>
      </p:sp>
      <p:sp>
        <p:nvSpPr>
          <p:cNvPr id="23" name="Text 1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Generation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src/generate_data.py — rationale for each function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292840" y="411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BE7DA"/>
          </a:solidFill>
          <a:ln/>
        </p:spPr>
      </p:sp>
      <p:pic>
        <p:nvPicPr>
          <p:cNvPr id="6" name="Image 0" descr="/home/claude/pptx_work/icons/fil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521208"/>
            <a:ext cx="237744" cy="237744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92840" cy="4892040"/>
        </p:xfrm>
        <a:graphic>
          <a:graphicData uri="http://schemas.openxmlformats.org/drawingml/2006/table">
            <a:tbl>
              <a:tblPr/>
              <a:tblGrid>
                <a:gridCol w="2194560"/>
                <a:gridCol w="4572000"/>
                <a:gridCol w="4526280"/>
              </a:tblGrid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Was Used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mevsim_carpani()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Produces a monthly respiratory-infection seasonality multiplier (Oct-Mar up, Jun-Aug down)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strong, recurring seasonal pattern of respiratory illness in the Northern Hemisphere is well established; embedding it adds realism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mevsim_carpani_ayarli()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Applies a disease-group-specific seasonality 'strength' (0-1)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Influenza is highly seasonal, TB is nearly non-seasonal - a single coefficient wasn't enough; needed per-group tuning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yogunluk_carpani()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a multiplier based on province population-density category (low/medium/high)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Densely populated provinces (Istanbul, Izmir) consistently show higher incidence for infectious disease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pandemi_dalga_carpani()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Applies a Gaussian-like surge near known COVID-19 wave dates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COVID-19-specific wave behavior not explained by seasonality alone (e.g. the Jan 2022 Omicron peak)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main() — anchor application block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Writes real ANCHORS values into the matching province/date/disease cell, tags source='real_anchor'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Guarantees the proxy generation never contradicts real data and stays transparently traceable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BreathCast Turkey - Respiratory &amp; Infectious Disease Surveillance Dashboard  ·  Methodology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Feature Engineering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src/clean_data.py — rationale for each function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292840" y="411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4E7F1"/>
          </a:solidFill>
          <a:ln/>
        </p:spPr>
      </p:sp>
      <p:pic>
        <p:nvPicPr>
          <p:cNvPr id="6" name="Image 0" descr="/home/claude/pptx_work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521208"/>
            <a:ext cx="237744" cy="237744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92840" cy="4892040"/>
        </p:xfrm>
        <a:graphic>
          <a:graphicData uri="http://schemas.openxmlformats.org/drawingml/2006/table">
            <a:tbl>
              <a:tblPr/>
              <a:tblGrid>
                <a:gridCol w="2377440"/>
                <a:gridCol w="4663440"/>
                <a:gridCol w="4251960"/>
              </a:tblGrid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Was Used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Negative-value check, deduplication (province+disease+date), full weekly calendar guarantee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Raw/generated data must always be validated; a missing week breaks the model's lag features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groupby(...).reindex(full_weeks)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Places every province+disease combination onto a complete weekly time axis, interpolates gaps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input expects an evenly spaced time series; a missing week invalidates features like lag_52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merge(pop, on='province')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Merges the time series with the TurkStat population/region 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is required to convert the per-100k rate to absolute cases and enable region-level analysis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groupby(['province','disease_group'])[...].shift(lag)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Produces the lag_1, lag_2, lag_4, lag_52 features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Past-week values are the strongest signal for predicting the next week (lag_52 = same week last year, captures seasonality)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.rolling(4).mean()/.std()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4-week rolling mean and standard deviation (leak-free via shift(1))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Smooths short-term noise while presenting trend and volatility information to the model separately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BreathCast Turkey - Respiratory &amp; Infectious Disease Surveillance Dashboard  ·  Methodology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src/train_models.py — rationale for each function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292840" y="411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4E7F1"/>
          </a:solidFill>
          <a:ln/>
        </p:spPr>
      </p:sp>
      <p:pic>
        <p:nvPicPr>
          <p:cNvPr id="6" name="Image 0" descr="/home/claude/pptx_work/icon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521208"/>
            <a:ext cx="237744" cy="237744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92840" cy="4892040"/>
        </p:xfrm>
        <a:graphic>
          <a:graphicData uri="http://schemas.openxmlformats.org/drawingml/2006/table">
            <a:tbl>
              <a:tblPr/>
              <a:tblGrid>
                <a:gridCol w="2514600"/>
                <a:gridCol w="4343400"/>
                <a:gridCol w="4434840"/>
              </a:tblGrid>
              <a:tr h="6988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Was Used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</a:tr>
              <a:tr h="6988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turkiye_geneli_seri()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Produces a population-weighted, Turkey-wide weekly series using np.average()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population-weighted average reflects the impact of large provinces correctly, unlike a simple average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88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SARIMAX() [statsmodels]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Fits a seasonal ARIMA (2,1,2)(1,1,1,52)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classic, interpretable time series baseline; can directly model the 52-week seasonal component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6988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Prophet() [Meta]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model decomposing trend + yearly seasonality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Delivers strong seasonal decomposition with little parameter tuning; more robust to missing/irregular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88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LGBMRegressor() [LightGBM]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 regression on lag/rolling/calendar features; disease group added as a categorical variable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pool multiple province+disease series into a SINGLE model and generalize across them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6988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mean_squared_error()/mean_absolute_error() [sklearn]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Computes RMSE and MAE (last-12-week test set)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Standard, comparable error metrics; RMSE is more sensitive to large deviations than MAE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88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joblib.dump()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Saves the best model + feature list + disease-group code mapping to disk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Lets the Streamlit app load the model quickly without retraining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BreathCast Turkey - Respiratory &amp; Infectious Disease Surveillance Dashboard  ·  Methodology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streamlit_app/app.py — rationale for each function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292840" y="411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BE7DA"/>
          </a:solidFill>
          <a:ln/>
        </p:spPr>
      </p:sp>
      <p:pic>
        <p:nvPicPr>
          <p:cNvPr id="6" name="Image 0" descr="/home/claude/pptx_work/icons/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521208"/>
            <a:ext cx="237744" cy="237744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92840" cy="489204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343400"/>
              </a:tblGrid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Was Used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@st.cache_data / @st.cache_resource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Caches data and model objects in memory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Data/model aren't reloaded on every interaction so the dashboard stays responsive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st.sidebar.selectbox()/multiselect()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Builds disease group, province, region, and date-range filters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Lets the user explore 5 diseases x 81 provinces from a single dashboard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px.line()/px.bar() [Plotly]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Renders interactive time series and ranking charts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Plotly natively supports zoom/hover interactivity, well suited to a dashboard experience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model.predict() loop (tab3)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Produces a recursive 1-8 week forecast for the selected province+disease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Delivers a real-time, user-interactive forecasting experience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st.tabs()/st.metric()/st.dataframe()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4-tab layout, summary metric cards, raw table display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Separates Overview / Geographic Distribution / Forecast / Methodology to avoid information overload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BreathCast Turkey - Respiratory &amp; Infectious Disease Surveillance Dashboard  ·  Methodology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by disease group (last-12-week test, lower = better)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292840" y="411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3F2F0"/>
          </a:solidFill>
          <a:ln/>
        </p:spPr>
      </p:sp>
      <p:pic>
        <p:nvPicPr>
          <p:cNvPr id="6" name="Image 0" descr="/home/claude/pptx_work/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521208"/>
            <a:ext cx="237744" cy="237744"/>
          </a:xfrm>
          <a:prstGeom prst="rect">
            <a:avLst/>
          </a:prstGeom>
        </p:spPr>
      </p:pic>
      <p:graphicFrame>
        <p:nvGraphicFramePr>
          <p:cNvPr id="7" name="Chart 0" descr=""/>
          <p:cNvGraphicFramePr/>
          <p:nvPr/>
        </p:nvGraphicFramePr>
        <p:xfrm>
          <a:off x="502920" y="2057400"/>
          <a:ext cx="74066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8229600" y="2057400"/>
            <a:ext cx="3429000" cy="4160520"/>
          </a:xfrm>
          <a:prstGeom prst="roundRect">
            <a:avLst>
              <a:gd name="adj" fmla="val 2667"/>
            </a:avLst>
          </a:prstGeom>
          <a:solidFill>
            <a:srgbClr val="1B2A4A"/>
          </a:solidFill>
          <a:ln/>
        </p:spPr>
      </p:sp>
      <p:sp>
        <p:nvSpPr>
          <p:cNvPr id="9" name="Shape 5"/>
          <p:cNvSpPr/>
          <p:nvPr/>
        </p:nvSpPr>
        <p:spPr>
          <a:xfrm>
            <a:off x="8549640" y="2423160"/>
            <a:ext cx="566928" cy="566928"/>
          </a:xfrm>
          <a:prstGeom prst="ellipse">
            <a:avLst/>
          </a:prstGeom>
          <a:solidFill>
            <a:srgbClr val="0F6E6E"/>
          </a:solidFill>
          <a:ln/>
        </p:spPr>
      </p:sp>
      <p:pic>
        <p:nvPicPr>
          <p:cNvPr id="10" name="Image 1" descr="/home/claude/pptx_work/icons/tren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560320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503920" y="31546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Model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8503920" y="352044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2600" dirty="0"/>
          </a:p>
        </p:txBody>
      </p:sp>
      <p:sp>
        <p:nvSpPr>
          <p:cNvPr id="13" name="Text 8"/>
          <p:cNvSpPr/>
          <p:nvPr/>
        </p:nvSpPr>
        <p:spPr>
          <a:xfrm>
            <a:off x="8503920" y="411480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3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province + disease group combinations were learned together in a SINGLE model (405 series).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8503920" y="4892040"/>
            <a:ext cx="2880360" cy="0"/>
          </a:xfrm>
          <a:prstGeom prst="line">
            <a:avLst/>
          </a:prstGeom>
          <a:noFill/>
          <a:ln w="12700">
            <a:solidFill>
              <a:srgbClr val="3E5185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503920" y="5029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8503920" y="53035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1.48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10058400" y="5029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0058400" y="53035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BreathCast Turkey - Respiratory &amp; Infectious Disease Surveillance Dashboard  ·  Methodology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24365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-&gt; Method -&gt; Tooling Map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C3F6B"/>
          </a:solidFill>
          <a:ln/>
        </p:spPr>
      </p:sp>
      <p:pic>
        <p:nvPicPr>
          <p:cNvPr id="6" name="Image 0" descr="/home/claude/pptx_work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099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554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108960" y="15544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TurkStat population + 4 real COVID anchor dates + TB Control annual national report + WHO/ECDC seasonality pattern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53288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C3F6B"/>
          </a:solidFill>
          <a:ln/>
        </p:spPr>
      </p:sp>
      <p:pic>
        <p:nvPicPr>
          <p:cNvPr id="10" name="Image 1" descr="/home/claude/pptx_work/icons/filt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64261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48716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108960" y="248716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generate_data.py -&gt; calibrated proxy series using seasonality/density/pandemic multipliers (81 provinces x 5 groups x 208 weeks)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4655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C3F6B"/>
          </a:solidFill>
          <a:ln/>
        </p:spPr>
      </p:sp>
      <p:pic>
        <p:nvPicPr>
          <p:cNvPr id="14" name="Image 2" descr="/home/claude/pptx_work/icons/lay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575304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341985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108960" y="3419856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clean_data.py -&gt; validation, calendar completion, lag/rolling feature engineering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39826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C3F6B"/>
          </a:solidFill>
          <a:ln/>
        </p:spPr>
      </p:sp>
      <p:pic>
        <p:nvPicPr>
          <p:cNvPr id="18" name="Image 3" descr="/home/claude/pptx_work/icons/cpu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507992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435254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3108960" y="4352544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SARIMA, Prophet (per group) + pooled LightGBM (RMSE~1.48 across all groups)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48640" y="533095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C3F6B"/>
          </a:solidFill>
          <a:ln/>
        </p:spPr>
      </p:sp>
      <p:pic>
        <p:nvPicPr>
          <p:cNvPr id="22" name="Image 4" descr="/home/claude/pptx_work/icons/monito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544068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88720" y="528523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3108960" y="528523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- 4 tabs, live filtering, live forecasting, full methodology transparency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548640" y="6355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2026-08-18T16:18:47Z</dcterms:created>
  <dcterms:modified xsi:type="dcterms:W3CDTF">2026-08-18T16:18:47Z</dcterms:modified>
</cp:coreProperties>
</file>