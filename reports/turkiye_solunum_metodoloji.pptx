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Calibri"/>
              </a:rPr>
              <a:t>Hastalık Grubu Bazında RMSE (SARIMA vs Prophet)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SARIMA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Alt Solunum
Yolu</c:v>
                  </c:pt>
                  <c:pt idx="1">
                    <c:v>COVID-19</c:v>
                  </c:pt>
                  <c:pt idx="2">
                    <c:v>Grip/ILI</c:v>
                  </c:pt>
                  <c:pt idx="3">
                    <c:v>Tüberküloz</c:v>
                  </c:pt>
                  <c:pt idx="4">
                    <c:v>ÜSYE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0.078</c:v>
                </c:pt>
                <c:pt idx="1">
                  <c:v>2.737</c:v>
                </c:pt>
                <c:pt idx="2">
                  <c:v>0.091</c:v>
                </c:pt>
                <c:pt idx="3">
                  <c:v>0.018</c:v>
                </c:pt>
                <c:pt idx="4">
                  <c:v>0.17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Prophet</c:v>
                </c:pt>
              </c:strCache>
            </c:strRef>
          </c:tx>
          <c:spPr>
            <a:solidFill>
              <a:srgbClr val="D9642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Alt Solunum
Yolu</c:v>
                  </c:pt>
                  <c:pt idx="1">
                    <c:v>COVID-19</c:v>
                  </c:pt>
                  <c:pt idx="2">
                    <c:v>Grip/ILI</c:v>
                  </c:pt>
                  <c:pt idx="3">
                    <c:v>Tüberküloz</c:v>
                  </c:pt>
                  <c:pt idx="4">
                    <c:v>ÜSYE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0.075</c:v>
                </c:pt>
                <c:pt idx="1">
                  <c:v>4.38</c:v>
                </c:pt>
                <c:pt idx="2">
                  <c:v>0.13</c:v>
                </c:pt>
                <c:pt idx="3">
                  <c:v>0.012</c:v>
                </c:pt>
                <c:pt idx="4">
                  <c:v>0.168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B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4365E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663440"/>
            <a:ext cx="3657600" cy="3657600"/>
          </a:xfrm>
          <a:prstGeom prst="ellipse">
            <a:avLst/>
          </a:prstGeom>
          <a:solidFill>
            <a:srgbClr val="24365E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502920"/>
            <a:ext cx="822960" cy="822960"/>
          </a:xfrm>
          <a:prstGeom prst="ellipse">
            <a:avLst/>
          </a:prstGeom>
          <a:solidFill>
            <a:srgbClr val="0F6E6E"/>
          </a:solidFill>
          <a:ln/>
        </p:spPr>
      </p:sp>
      <p:pic>
        <p:nvPicPr>
          <p:cNvPr id="5" name="Image 0" descr="/home/claude/pptx_work/icons/activi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5836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BİLİMİ BİTİRME PROJESİ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Solunum Yolu ve</a:t>
            </a:r>
            <a:endParaRPr lang="en-US" sz="3600" dirty="0"/>
          </a:p>
          <a:p>
            <a:pPr algn="l"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Bulaşıcı Hastalık İzleme Paneli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777240" y="3611880"/>
            <a:ext cx="1554480" cy="54864"/>
          </a:xfrm>
          <a:prstGeom prst="rect">
            <a:avLst/>
          </a:prstGeom>
          <a:solidFill>
            <a:srgbClr val="D9642C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3840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Kaynakları ve Kullanılan Fonksiyonların Detaylı Yapısı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77240" y="4617720"/>
            <a:ext cx="845820" cy="420624"/>
          </a:xfrm>
          <a:prstGeom prst="roundRect">
            <a:avLst>
              <a:gd name="adj" fmla="val 50000"/>
            </a:avLst>
          </a:prstGeom>
          <a:solidFill>
            <a:srgbClr val="2C3F6B"/>
          </a:solidFill>
          <a:ln w="9525">
            <a:solidFill>
              <a:srgbClr val="3E518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617720"/>
            <a:ext cx="8458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İl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824228" y="4617720"/>
            <a:ext cx="2002536" cy="420624"/>
          </a:xfrm>
          <a:prstGeom prst="roundRect">
            <a:avLst>
              <a:gd name="adj" fmla="val 50000"/>
            </a:avLst>
          </a:prstGeom>
          <a:solidFill>
            <a:srgbClr val="2C3F6B"/>
          </a:solidFill>
          <a:ln w="9525">
            <a:solidFill>
              <a:srgbClr val="3E518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24228" y="4617720"/>
            <a:ext cx="20025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Hastalık Grubu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027932" y="4617720"/>
            <a:ext cx="1266444" cy="420624"/>
          </a:xfrm>
          <a:prstGeom prst="roundRect">
            <a:avLst>
              <a:gd name="adj" fmla="val 50000"/>
            </a:avLst>
          </a:prstGeom>
          <a:solidFill>
            <a:srgbClr val="2C3F6B"/>
          </a:solidFill>
          <a:ln w="9525">
            <a:solidFill>
              <a:srgbClr val="3E518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27932" y="4617720"/>
            <a:ext cx="12664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Hafta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95544" y="4617720"/>
            <a:ext cx="1792224" cy="420624"/>
          </a:xfrm>
          <a:prstGeom prst="roundRect">
            <a:avLst>
              <a:gd name="adj" fmla="val 50000"/>
            </a:avLst>
          </a:prstGeom>
          <a:solidFill>
            <a:srgbClr val="2C3F6B"/>
          </a:solidFill>
          <a:ln w="9525">
            <a:solidFill>
              <a:srgbClr val="3E518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95544" y="4617720"/>
            <a:ext cx="17922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 Ailesi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Metodoloji Eki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YAPI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Uçtan Uca Pipeline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kaynağından interaktif dashboard'a kadar 5 adım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084832" cy="3794760"/>
          </a:xfrm>
          <a:prstGeom prst="roundRect">
            <a:avLst>
              <a:gd name="adj" fmla="val 4386"/>
            </a:avLst>
          </a:prstGeom>
          <a:solidFill>
            <a:srgbClr val="F4F6F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203704"/>
            <a:ext cx="566928" cy="566928"/>
          </a:xfrm>
          <a:prstGeom prst="ellipse">
            <a:avLst/>
          </a:prstGeom>
          <a:solidFill>
            <a:srgbClr val="E3F2F0"/>
          </a:solidFill>
          <a:ln/>
        </p:spPr>
      </p:sp>
      <p:pic>
        <p:nvPicPr>
          <p:cNvPr id="7" name="Image 0" descr="/home/claude/pptx_work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22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219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2953512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Kaynağı Tespiti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3730752"/>
            <a:ext cx="171907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TÜİK nüfus + gerçek çapa noktaları (Sağlık Bak. / Verem Savaşı Rap.)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615184" y="33832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798064" y="1965960"/>
            <a:ext cx="2084832" cy="3794760"/>
          </a:xfrm>
          <a:prstGeom prst="roundRect">
            <a:avLst>
              <a:gd name="adj" fmla="val 4386"/>
            </a:avLst>
          </a:prstGeom>
          <a:solidFill>
            <a:srgbClr val="F4F6F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99232" y="2203704"/>
            <a:ext cx="566928" cy="566928"/>
          </a:xfrm>
          <a:prstGeom prst="ellipse">
            <a:avLst/>
          </a:prstGeom>
          <a:solidFill>
            <a:srgbClr val="FBE7DA"/>
          </a:solidFill>
          <a:ln/>
        </p:spPr>
      </p:sp>
      <p:pic>
        <p:nvPicPr>
          <p:cNvPr id="14" name="Image 1" descr="/home/claude/pptx_work/icons/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104" y="2322576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12464" y="22219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2980944" y="2953512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generate_data.py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2980944" y="3730752"/>
            <a:ext cx="171907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Kalibreli proxy zaman serisi üretimi (81 il × 5 hastalık grubu)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864608" y="33832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047488" y="1965960"/>
            <a:ext cx="2084832" cy="3794760"/>
          </a:xfrm>
          <a:prstGeom prst="roundRect">
            <a:avLst>
              <a:gd name="adj" fmla="val 4386"/>
            </a:avLst>
          </a:prstGeom>
          <a:solidFill>
            <a:srgbClr val="F4F6F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248656" y="2203704"/>
            <a:ext cx="566928" cy="566928"/>
          </a:xfrm>
          <a:prstGeom prst="ellipse">
            <a:avLst/>
          </a:prstGeom>
          <a:solidFill>
            <a:srgbClr val="E4E7F1"/>
          </a:solidFill>
          <a:ln/>
        </p:spPr>
      </p:sp>
      <p:pic>
        <p:nvPicPr>
          <p:cNvPr id="21" name="Image 2" descr="/home/claude/pptx_work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2322576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961888" y="22219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5230368" y="2953512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clean_data.py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5230368" y="3730752"/>
            <a:ext cx="171907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Doğrulama, eksik hafta tamamlama, lag/rolling özellik mühendisliği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7114032" y="33832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7296912" y="1965960"/>
            <a:ext cx="2084832" cy="3794760"/>
          </a:xfrm>
          <a:prstGeom prst="roundRect">
            <a:avLst>
              <a:gd name="adj" fmla="val 4386"/>
            </a:avLst>
          </a:prstGeom>
          <a:solidFill>
            <a:srgbClr val="F4F6F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0" y="2203704"/>
            <a:ext cx="566928" cy="566928"/>
          </a:xfrm>
          <a:prstGeom prst="ellipse">
            <a:avLst/>
          </a:prstGeom>
          <a:solidFill>
            <a:srgbClr val="E4E7F1"/>
          </a:solidFill>
          <a:ln/>
        </p:spPr>
      </p:sp>
      <p:pic>
        <p:nvPicPr>
          <p:cNvPr id="28" name="Image 3" descr="/home/claude/pptx_work/icons/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2" y="2322576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211312" y="22219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4"/>
          <p:cNvSpPr/>
          <p:nvPr/>
        </p:nvSpPr>
        <p:spPr>
          <a:xfrm>
            <a:off x="7479792" y="2953512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train_models.py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7479792" y="3730752"/>
            <a:ext cx="171907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SARIMA, Prophet, LightGBM eğitimi ve karşılaştırması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9363456" y="33832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9546336" y="1965960"/>
            <a:ext cx="2084832" cy="3794760"/>
          </a:xfrm>
          <a:prstGeom prst="roundRect">
            <a:avLst>
              <a:gd name="adj" fmla="val 4386"/>
            </a:avLst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9747504" y="2203704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4" descr="/home/claude/pptx_work/icons/monit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6376" y="2322576"/>
            <a:ext cx="329184" cy="32918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0460736" y="22219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Text 30"/>
          <p:cNvSpPr/>
          <p:nvPr/>
        </p:nvSpPr>
        <p:spPr>
          <a:xfrm>
            <a:off x="9729216" y="2953512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streamlit_app/app.py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9729216" y="3730752"/>
            <a:ext cx="171907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3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sekmeli interaktif dashboard, canlı tahmin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Solunum Yolu ve Bulaşıcı Hastalık İzleme Paneli  ·  Metodoloji</a:t>
            </a:r>
            <a:endParaRPr lang="en-US" sz="850" dirty="0"/>
          </a:p>
        </p:txBody>
      </p:sp>
      <p:sp>
        <p:nvSpPr>
          <p:cNvPr id="40" name="Text 3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KAYNAKLARI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Hastalık Grubu Bazında Kaynaklar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grup için gerçek çapa noktası + tamamlama yöntemi ayrı belirlendi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2928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3F2F0"/>
          </a:solidFill>
          <a:ln/>
        </p:spPr>
      </p:sp>
      <p:pic>
        <p:nvPicPr>
          <p:cNvPr id="6" name="Image 0" descr="/home/claude/pptx_work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521208"/>
            <a:ext cx="237744" cy="237744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11292840" cy="4526280"/>
        </p:xfrm>
        <a:graphic>
          <a:graphicData uri="http://schemas.openxmlformats.org/drawingml/2006/table">
            <a:tbl>
              <a:tblPr/>
              <a:tblGrid>
                <a:gridCol w="1828800"/>
                <a:gridCol w="3931920"/>
                <a:gridCol w="278892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Hastalık Grubu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 Veri Kaynağı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Kapsam / Çözünürlük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Tamamlama Yöntemi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COVID-19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Sağlık Bakanlığı basın açıklamalı il-bazlı insidans haritaları (1 Nis 2020, 12 Eyl 2020, 24-30 Nis 2021, 8-14 Oca 2022)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 bazlı, 4 kesitsel tarih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Mevsimsellik + bilinen pandemi dalga tarihleri ile ara haftalar dolduruldu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Tüberküloz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Verem Savaşı Dairesi Başkanlığı yıllık ULUSAL rapor (hsgm.saglik.gov.tr)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Ulusal, yıllık (2020: 10,6 · 2022: 11,0 · 2024: 10,4 / 100bin)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Ulusal değer il nüfus + yoğunluk ağırlığıyla dağıtıldı, yıllık ~%2 azalan trend uygulandı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Grip / ILI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/ ECDC Kuzey Yarımküre solunum yolu sürveyans paterni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mevsimsel patern (kesin il verisi yok)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 mevsimsellik katsayısı (kış zirvesi) ile il nüfus yoğunluğuna göre ölçeklendi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ÜSYE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WHO/ECDC genel solunum yolu enfeksiyonu mevsimsellik paterni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mevsimsel patern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 il-yoğunluk hassasiyeti (her ilde yaygın görülür)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 Solunum Yolu / Pnömoni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WHO/ECDC genel solunum yolu enfeksiyonu mevsimsellik paterni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mevsimsel patern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 düzey mevsimsellik + yoğunluk hassasiyeti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19963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TÜİK il nüfusu (2022, ADNKS) tüm gruplarda ortak normalize/ağırlıklandırma temeli olarak kullanılmıştır.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Solunum Yolu ve Bulaşıcı Hastalık İzleme Paneli  ·  Metodoloji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METODOLOJI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Kalibreli Proxy Veri?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Kısıt → Yöntem → Şeffaflık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2928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4E7F1"/>
          </a:solidFill>
          <a:ln/>
        </p:spPr>
      </p:sp>
      <p:pic>
        <p:nvPicPr>
          <p:cNvPr id="6" name="Image 0" descr="/home/claude/pptx_work/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521208"/>
            <a:ext cx="237744" cy="2377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783080"/>
            <a:ext cx="3520440" cy="4251960"/>
          </a:xfrm>
          <a:prstGeom prst="roundRect">
            <a:avLst>
              <a:gd name="adj" fmla="val 2338"/>
            </a:avLst>
          </a:prstGeom>
          <a:solidFill>
            <a:srgbClr val="F4F6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" y="2057400"/>
            <a:ext cx="566928" cy="566928"/>
          </a:xfrm>
          <a:prstGeom prst="ellipse">
            <a:avLst/>
          </a:prstGeom>
          <a:solidFill>
            <a:srgbClr val="D9642C"/>
          </a:solidFill>
          <a:ln/>
        </p:spPr>
      </p:sp>
      <p:pic>
        <p:nvPicPr>
          <p:cNvPr id="9" name="Image 1" descr="/home/claude/pptx_work/icons/ale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19456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2770632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Kısıt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804672" y="3227832"/>
            <a:ext cx="300837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T.C. Sağlık Bakanlığı hiçbir hastalık grubu için il-bazlı haftalık/günlük veriyi sürekli CSV/API olarak yayımlamadı; yalnızca kesitsel basın açıklamaları ve yıllık ulusal raporlar mevcut.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25112" y="1783080"/>
            <a:ext cx="3520440" cy="4251960"/>
          </a:xfrm>
          <a:prstGeom prst="roundRect">
            <a:avLst>
              <a:gd name="adj" fmla="val 2338"/>
            </a:avLst>
          </a:prstGeom>
          <a:solidFill>
            <a:srgbClr val="F4F6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81144" y="2057400"/>
            <a:ext cx="566928" cy="566928"/>
          </a:xfrm>
          <a:prstGeom prst="ellipse">
            <a:avLst/>
          </a:prstGeom>
          <a:solidFill>
            <a:srgbClr val="0F6E6E"/>
          </a:solidFill>
          <a:ln/>
        </p:spPr>
      </p:sp>
      <p:pic>
        <p:nvPicPr>
          <p:cNvPr id="14" name="Image 2" descr="/home/claude/pptx_work/icons/filt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219456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81144" y="2770632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581144" y="3227832"/>
            <a:ext cx="300837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açıklama/rapor değerleri 'çapa noktası' olarak sabitlendi; aradaki haftalar TÜİK nüfusu, il yoğunluk kategorisi ve bilinen mevsimsellik paterniyle istatistiksel olarak tutarlı şekilde dolduruldu.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101584" y="1783080"/>
            <a:ext cx="3520440" cy="4251960"/>
          </a:xfrm>
          <a:prstGeom prst="roundRect">
            <a:avLst>
              <a:gd name="adj" fmla="val 2338"/>
            </a:avLst>
          </a:prstGeom>
          <a:solidFill>
            <a:srgbClr val="F4F6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57616" y="20574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9" name="Image 3" descr="/home/claude/pptx_work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4776" y="2194560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57616" y="2770632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Şeffaflık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8357616" y="3227832"/>
            <a:ext cx="300837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Üretilen her satır 'kaynak' sütununda etiketlendi: gercek_ceapa / proxy_kalibreli / interpole. Gerçek veri temin edilirse aynı şema ile doğrudan değiştirilebilir.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Solunum Yolu ve Bulaşıcı Hastalık İzleme Paneli  ·  Metodoloji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FONKSIYONLAR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Üretimi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src/generate_data.py — gerekçeli fonksiyon dökümü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2928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BE7DA"/>
          </a:solidFill>
          <a:ln/>
        </p:spPr>
      </p:sp>
      <p:pic>
        <p:nvPicPr>
          <p:cNvPr id="6" name="Image 0" descr="/home/claude/pptx_work/icons/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521208"/>
            <a:ext cx="237744" cy="237744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92840" cy="4892040"/>
        </p:xfrm>
        <a:graphic>
          <a:graphicData uri="http://schemas.openxmlformats.org/drawingml/2006/table">
            <a:tbl>
              <a:tblPr/>
              <a:tblGrid>
                <a:gridCol w="2194560"/>
                <a:gridCol w="4572000"/>
                <a:gridCol w="4526280"/>
              </a:tblGrid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Fonksiyon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Yapar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Neden Kullanıldı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mevsim_carpani()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 bazında solunum yolu enfeksiyonu mevsimsellik çarpanı üretir (Ekim-Mart ↑, Haziran-Ağustos ↓)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Solunum yolu hastalıklarının Kuzey Yarımküre'de güçlü, tekrarlayan mevsimsel paterni bilimsel olarak bilinir; bunu modele gömmek gerçekçilik katar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mevsim_carpani_ayarli()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hastalık grubuna özgü mevsimsellik 'gücü' (0-1) uygular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Grip çok mevsimsel, Tüberküloz neredeyse mevsimsiz — tek katsayı yerine grup bazlı ayarlanabilirlik gerekti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yogunluk_carpani()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 nüfus yoğunluk kategorisine (düşük/orta/yüksek) göre çarpan döndürür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Kalabalık/yoğun iller (İstanbul, İzmir) bulaşıcı hastalıklarda tutarlı biçimde daha yüksek insidans gösterir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pandemi_dalga_carpani()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Bilinen COVID-19 dalga tarihlerine yakın haftalarda Gauss-benzeri artış uygular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COVID-19'a özgü, mevsimsellikle açıklanamayan dalga davranışını (Ocak 2022 Omicron zirvesi gibi) yakalamak için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main() — çapa uygulama bloğu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ANCHORS listesindeki gerçek değerleri ilgili il/tarih/hastalık hücresine yazar, kaynak='gercek_ceapa' etiketler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 üretimin gerçek veriyle çelişmemesini ve şeffaf izlenebilirliğini garanti eder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Solunum Yolu ve Bulaşıcı Hastalık İzleme Paneli  ·  Metodoloji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FONKSIYONLAR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Temizleme ve Özellik Mühendisliği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src/clean_data.py — gerekçeli fonksiyon dökümü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2928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4E7F1"/>
          </a:solidFill>
          <a:ln/>
        </p:spPr>
      </p:sp>
      <p:pic>
        <p:nvPicPr>
          <p:cNvPr id="6" name="Image 0" descr="/home/claude/pptx_work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521208"/>
            <a:ext cx="237744" cy="237744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92840" cy="4892040"/>
        </p:xfrm>
        <a:graphic>
          <a:graphicData uri="http://schemas.openxmlformats.org/drawingml/2006/table">
            <a:tbl>
              <a:tblPr/>
              <a:tblGrid>
                <a:gridCol w="2377440"/>
                <a:gridCol w="4663440"/>
                <a:gridCol w="4251960"/>
              </a:tblGrid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Fonksiyon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Yapar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Neden Kullanıldı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Negatif değer kontrolü, tekilleştirme (il+hastalık+tarih), tam haftalık takvim garantisi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Ham/üretilmiş veri her zaman doğrulanmalı; eksik hafta modelin lag özelliklerini bozar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groupby(...).reindex(full_weeks)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il+hastalık kombinasyonunu eksiksiz haftalık zaman eksenine oturtur, boşlukları interpolate eder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girdisi düzenli aralıklı zaman serisi bekler; kayıp hafta lag_52 gibi özellikleri geçersiz kılar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merge(pop, on='il')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Zaman serisini TÜİK nüfus/bölge tablosuyla birleştirir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100binlik oranı mutlak vakaya çevirmek ve bölge bazlı analiz yapabilmek için nüfus şart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groupby(['il','hastalik_grubu'])[...].shift(lag)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lag_1, lag_2, lag_4, lag_52 özelliklerini üretir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Geçmiş haftaların değeri gelecek haftayı tahmin etmede en güçlü sinyaldir (lag_52 = geçen yıl aynı hafta, mevsimselliği yakalar)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.rolling(4).mean()/.std()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haftalık hareketli ortalama ve standart sapma (shift(1) ile sızıntısız)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 dalgalanmaları yumuşatıp trend + volatilite bilgisini modele ayrı ayrı sunar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Solunum Yolu ve Bulaşıcı Hastalık İzleme Paneli  ·  Metodoloji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FONKSIYONLAR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Modelleme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src/train_models.py — gerekçeli fonksiyon dökümü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2928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4E7F1"/>
          </a:solidFill>
          <a:ln/>
        </p:spPr>
      </p:sp>
      <p:pic>
        <p:nvPicPr>
          <p:cNvPr id="6" name="Image 0" descr="/home/claude/pptx_work/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521208"/>
            <a:ext cx="237744" cy="237744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92840" cy="4892040"/>
        </p:xfrm>
        <a:graphic>
          <a:graphicData uri="http://schemas.openxmlformats.org/drawingml/2006/table">
            <a:tbl>
              <a:tblPr/>
              <a:tblGrid>
                <a:gridCol w="2514600"/>
                <a:gridCol w="4343400"/>
                <a:gridCol w="4434840"/>
              </a:tblGrid>
              <a:tr h="6988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Fonksiyon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Yapar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Neden Kullanıldı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turkiye_geneli_seri()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np.average() ile nüfus ağırlıklı Türkiye geneli haftalık seri üretir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Basit ortalama yerine nüfus ağırlıklı ortalama, büyük illerin etkisini doğru yansıtır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SARIMAX() [statsmodels]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Mevsimsel ARIMA (2,1,2)(1,1,1,52) modeli kurar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Klasik, yorumlanabilir zaman serisi baseline'ı; 52 haftalık mevsimsel bileşeni doğrudan modelleyebiliyor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Prophet() [Meta]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+ yıllık mevsimsellik ayrıştıran otomatik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 parametre ayarıyla güçlü mevsimsel ayrıştırma yapar; eksik/düzensiz veriye daha dayanıklıdır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LGBMRegressor() [LightGBM]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Lag/rolling/takvim özellikleriyle gradient boosting regresyon; hastalık grubu kategorik değişken olarak eklendi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Çoklu il+hastalık serisini TEK modelde havuzlayıp (pooled) genelleme yapabilir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mean_squared_error()/mean_absolute_error() [sklearn]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ve MAE hesaplar (son 12 hafta test seti)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Standart, karşılaştırılabilir hata metrikleri; RMSE büyük sapmalara MAE'den daha duyarlıdır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88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joblib.dump()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iyi model + özellik listesi + hastalık grubu kod eşlemesini diske kaydeder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uygulamasının modeli yeniden eğitmeden hızlıca yükleyebilmesi için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Solunum Yolu ve Bulaşıcı Hastalık İzleme Paneli  ·  Metodoloji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FONKSIYONLAR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Panel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streamlit_app/app.py — gerekçeli fonksiyon dökümü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2928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BE7DA"/>
          </a:solidFill>
          <a:ln/>
        </p:spPr>
      </p:sp>
      <p:pic>
        <p:nvPicPr>
          <p:cNvPr id="6" name="Image 0" descr="/home/claude/pptx_work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521208"/>
            <a:ext cx="237744" cy="237744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92840" cy="489204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343400"/>
              </a:tblGrid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Fonksiyon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Yapar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Neden Kullanıldı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6E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@st.cache_data / @st.cache_resource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ve model nesnelerini bellekte önbelleğe alır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etkileşimde veri/model yeniden yüklenmez → panel akıcı çalışır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st.sidebar.selectbox()/multiselect()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Hastalık grubu, il, bölge, tarih aralığı filtrelerini oluşturur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Kullanıcının tek panelden 5 hastalık × 81 il kombinasyonunu keşfedebilmesi için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px.line()/px.bar() [Plotly]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Zaman serisi ve sıralama grafiklerini interaktif çizer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Plotly, zoom/hover gibi interaktiviteyi native destekler — dashboard deneyimi için uygun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model.predict() döngüsü (tab3)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Seçili il+hastalık için özyinelemeli (recursive) 1-8 haftalık ileri tahmin üretir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 zamanlı, kullanıcı etkileşimli tahmin deneyimi sunmak için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st.tabs()/st.metric()/st.dataframe()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sekmeli yapı, özet metrik kartları, ham tablo gösterimi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Bakış / Coğrafi Dağılım / Tahmin / Metodoloji ayrımı ile bilgi kirliliğini önlemek için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Solunum Yolu ve Bulaşıcı Hastalık İzleme Paneli  ·  Metodoloji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Karşılaştırması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Hastalık grubu bazında RMSE (son 12 hafta test, düşük = iyi)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2928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3F2F0"/>
          </a:solidFill>
          <a:ln/>
        </p:spPr>
      </p:sp>
      <p:pic>
        <p:nvPicPr>
          <p:cNvPr id="6" name="Image 0" descr="/home/claude/pptx_work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521208"/>
            <a:ext cx="237744" cy="237744"/>
          </a:xfrm>
          <a:prstGeom prst="rect">
            <a:avLst/>
          </a:prstGeom>
        </p:spPr>
      </p:pic>
      <p:graphicFrame>
        <p:nvGraphicFramePr>
          <p:cNvPr id="7" name="Chart 0" descr=""/>
          <p:cNvGraphicFramePr/>
          <p:nvPr/>
        </p:nvGraphicFramePr>
        <p:xfrm>
          <a:off x="502920" y="2057400"/>
          <a:ext cx="74066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8229600" y="2057400"/>
            <a:ext cx="3429000" cy="4160520"/>
          </a:xfrm>
          <a:prstGeom prst="roundRect">
            <a:avLst>
              <a:gd name="adj" fmla="val 2667"/>
            </a:avLst>
          </a:prstGeom>
          <a:solidFill>
            <a:srgbClr val="1B2A4A"/>
          </a:solidFill>
          <a:ln/>
        </p:spPr>
      </p:sp>
      <p:sp>
        <p:nvSpPr>
          <p:cNvPr id="9" name="Shape 5"/>
          <p:cNvSpPr/>
          <p:nvPr/>
        </p:nvSpPr>
        <p:spPr>
          <a:xfrm>
            <a:off x="8549640" y="2423160"/>
            <a:ext cx="566928" cy="566928"/>
          </a:xfrm>
          <a:prstGeom prst="ellipse">
            <a:avLst/>
          </a:prstGeom>
          <a:solidFill>
            <a:srgbClr val="0F6E6E"/>
          </a:solidFill>
          <a:ln/>
        </p:spPr>
      </p:sp>
      <p:pic>
        <p:nvPicPr>
          <p:cNvPr id="10" name="Image 1" descr="/home/claude/pptx_work/icons/tren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560320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03920" y="31546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Havuzlanmış Model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8503920" y="35204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2600" dirty="0"/>
          </a:p>
        </p:txBody>
      </p:sp>
      <p:sp>
        <p:nvSpPr>
          <p:cNvPr id="13" name="Text 8"/>
          <p:cNvSpPr/>
          <p:nvPr/>
        </p:nvSpPr>
        <p:spPr>
          <a:xfrm>
            <a:off x="8503920" y="411480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3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il + hastalık grubu kombinasyonları TEK modelde (405 seri) birlikte öğrenildi.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8503920" y="4892040"/>
            <a:ext cx="2880360" cy="0"/>
          </a:xfrm>
          <a:prstGeom prst="line">
            <a:avLst/>
          </a:prstGeom>
          <a:noFill/>
          <a:ln w="12700">
            <a:solidFill>
              <a:srgbClr val="3E5185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503920" y="5029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503920" y="53035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1.48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10058400" y="5029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0058400" y="53035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Solunum Yolu ve Bulaşıcı Hastalık İzleme Paneli  ·  Metodoloji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2436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→ Yöntem → Araç Haritası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3F6B"/>
          </a:solidFill>
          <a:ln/>
        </p:spPr>
      </p:sp>
      <p:pic>
        <p:nvPicPr>
          <p:cNvPr id="6" name="Image 0" descr="/home/claude/pptx_work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099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108960" y="15544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TÜİK nüfus + 4 gerçek COVID çapa tarihi + Verem Savaşı yıllık ulusal rapor + WHO/ECDC mevsimsellik paterni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53288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3F6B"/>
          </a:solidFill>
          <a:ln/>
        </p:spPr>
      </p:sp>
      <p:pic>
        <p:nvPicPr>
          <p:cNvPr id="10" name="Image 1" descr="/home/claude/pptx_work/icons/filt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64261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4871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108960" y="248716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generate_data.py → mevsim/yoğunluk/pandemi çarpanları ile kalibreli proxy seri (81 il × 5 grup × 208 hafta)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4655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3F6B"/>
          </a:solidFill>
          <a:ln/>
        </p:spPr>
      </p:sp>
      <p:pic>
        <p:nvPicPr>
          <p:cNvPr id="14" name="Image 2" descr="/home/claude/pptx_work/icons/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575304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341985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Temizleme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108960" y="3419856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clean_data.py → doğrulama, takvim tamamlama, lag/rolling özellik mühendisliği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39826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3F6B"/>
          </a:solidFill>
          <a:ln/>
        </p:spPr>
      </p:sp>
      <p:pic>
        <p:nvPicPr>
          <p:cNvPr id="18" name="Image 3" descr="/home/claude/pptx_work/icons/cpu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507992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435254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Modelleme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3108960" y="435254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SARIMA, Prophet (grup bazlı) + havuzlanmış LightGBM (RMSE≈1.48, tüm gruplarda)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53309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C3F6B"/>
          </a:solidFill>
          <a:ln/>
        </p:spPr>
      </p:sp>
      <p:pic>
        <p:nvPicPr>
          <p:cNvPr id="22" name="Image 4" descr="/home/claude/pptx_work/icons/monito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544068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88720" y="528523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6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3108960" y="528523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— 4 sekme, canlı filtre, canlı tahmin, tam metodoloji şeffaflığı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2026-08-18T14:46:53Z</dcterms:created>
  <dcterms:modified xsi:type="dcterms:W3CDTF">2026-08-18T14:46:53Z</dcterms:modified>
</cp:coreProperties>
</file>