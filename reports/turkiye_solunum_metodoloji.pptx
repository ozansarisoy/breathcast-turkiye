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Genel Yapısı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084832" cy="3017520"/>
          </a:xfrm>
          <a:prstGeom prst="roundRect">
            <a:avLst>
              <a:gd name="adj" fmla="val 3509"/>
            </a:avLst>
          </a:prstGeom>
          <a:solidFill>
            <a:srgbClr val="F4F6F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20574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64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1810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Kaynağı Tespiti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3429000"/>
            <a:ext cx="181051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</a:rPr>
              <a:t>TÜİK nüfus + gerçek çapa noktaları (Sağlık Bak. / Verem Savaşı Rap.)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38044" y="3108960"/>
            <a:ext cx="164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9642C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98064" y="1920240"/>
            <a:ext cx="2084832" cy="3017520"/>
          </a:xfrm>
          <a:prstGeom prst="roundRect">
            <a:avLst>
              <a:gd name="adj" fmla="val 3509"/>
            </a:avLst>
          </a:prstGeom>
          <a:solidFill>
            <a:srgbClr val="F4F6F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5224" y="20574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64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935224" y="2606040"/>
            <a:ext cx="1810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generate_data.py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935224" y="3429000"/>
            <a:ext cx="181051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</a:rPr>
              <a:t>Kalibreli proxy zaman serisi üretimi (81 il × 5 hastalık grubu)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87468" y="3108960"/>
            <a:ext cx="164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9642C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047488" y="1920240"/>
            <a:ext cx="2084832" cy="3017520"/>
          </a:xfrm>
          <a:prstGeom prst="roundRect">
            <a:avLst>
              <a:gd name="adj" fmla="val 3509"/>
            </a:avLst>
          </a:prstGeom>
          <a:solidFill>
            <a:srgbClr val="F4F6F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84648" y="20574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64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184648" y="2606040"/>
            <a:ext cx="1810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clean_data.py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184648" y="3429000"/>
            <a:ext cx="181051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</a:rPr>
              <a:t>Doğrulama, eksik hafta tamamlama, lag/rolling özellik mühendisliği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136892" y="3108960"/>
            <a:ext cx="164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9642C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296912" y="1920240"/>
            <a:ext cx="2084832" cy="3017520"/>
          </a:xfrm>
          <a:prstGeom prst="roundRect">
            <a:avLst>
              <a:gd name="adj" fmla="val 3509"/>
            </a:avLst>
          </a:prstGeom>
          <a:solidFill>
            <a:srgbClr val="F4F6F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34072" y="20574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64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434072" y="2606040"/>
            <a:ext cx="1810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train_models.py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434072" y="3429000"/>
            <a:ext cx="181051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</a:rPr>
              <a:t>SARIMA, Prophet, LightGBM eğitimi ve karşılaştırması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386316" y="3108960"/>
            <a:ext cx="164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9642C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46336" y="1920240"/>
            <a:ext cx="2084832" cy="3017520"/>
          </a:xfrm>
          <a:prstGeom prst="roundRect">
            <a:avLst>
              <a:gd name="adj" fmla="val 3509"/>
            </a:avLst>
          </a:prstGeom>
          <a:solidFill>
            <a:srgbClr val="0F6E6E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83496" y="20574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683496" y="2606040"/>
            <a:ext cx="1810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streamlit_app/app.py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9683496" y="3429000"/>
            <a:ext cx="181051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3F2F0"/>
                </a:solidFill>
              </a:rPr>
              <a:t>4 sekmeli interaktif dashboard, canlı tahmin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Kaynakları — Hastalık Grubu Bazında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</a:rPr>
              <a:t>Her hastalık grubu için gerçek çapa noktası + tamamlama yöntemi ayrı ayrı belirlendi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92840" cy="4663440"/>
        </p:xfrm>
        <a:graphic>
          <a:graphicData uri="http://schemas.openxmlformats.org/drawingml/2006/table">
            <a:tbl>
              <a:tblPr/>
              <a:tblGrid>
                <a:gridCol w="1828800"/>
                <a:gridCol w="3931920"/>
                <a:gridCol w="278892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Hastalık Grubu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Gerçek Veri Kaynağı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Kapsam / Çözünürlük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Tamamlama Yöntemi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COVID-19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Sağlık Bakanlığı basın açıklamalı il-bazlı insidans haritaları (1 Nis 2020, 12 Eyl 2020, 24-30 Nis 2021, 8-14 Oca 2022)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İl bazlı, 4 kesitsel tarih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Mevsimsellik + bilinen pandemi dalga tarihleri ile ara haftalar dolduruldu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Tüberküloz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Verem Savaşı Dairesi Başkanlığı yıllık ULUSAL rapor (hsgm.saglik.gov.tr)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Ulusal, yıllık (2020: 10,6 · 2022: 11,0 · 2024: 10,4 / 100bin)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Ulusal değer il nüfus + yoğunluk ağırlığıyla dağıtıldı, yıllık ~%2 azalan trend uygulandı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Grip / ILI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WHO / ECDC Kuzey Yarımküre solunum yolu sürveyans paterni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Genel mevsimsel patern (kesin il verisi yok)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Yüksek mevsimsellik katsayısı (kış zirvesi) ile il nüfus yoğunluğuna göre ölçeklendi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ÜSYE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WHO/ECDC genel solunum yolu enfeksiyonu mevsimsellik paterni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Genel mevsimsel patern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Düşük il-yoğunluk hassasiyeti (her ilde yaygın görülür)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 Solunum Yolu / Pnömoni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WHO/ECDC genel solunum yolu enfeksiyonu mevsimsellik paterni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Genel mevsimsel patern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 düzey mevsimsellik + yoğunluk hassasiyeti</a:t>
                      </a:r>
                      <a:endParaRPr lang="en-US" sz="10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2"/>
                </a:solidFill>
              </a:rPr>
              <a:t>TÜİK il nüfusu (2022, ADNKS) tüm gruplarda ortak normalize/ağırlıklandırma temeli olarak kullanılmıştır.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Kalibreli Proxy Veri?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</a:rPr>
              <a:t>Kısıt → Yöntem → Şeffaflık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4297680"/>
          </a:xfrm>
          <a:prstGeom prst="roundRect">
            <a:avLst>
              <a:gd name="adj" fmla="val 2338"/>
            </a:avLst>
          </a:prstGeom>
          <a:solidFill>
            <a:srgbClr val="F4F6F8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D964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64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Kısıt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31089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T.C. Sağlık Bakanlığı hiçbir hastalık grubu için il-bazlı haftalık/günlük veriyi sürekli CSV/API olarak yayımlamadı; yalnızca kesitsel basın açıklamaları ve yıllık ulusal raporlar mevcut.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1737360"/>
            <a:ext cx="3520440" cy="4297680"/>
          </a:xfrm>
          <a:prstGeom prst="roundRect">
            <a:avLst>
              <a:gd name="adj" fmla="val 2338"/>
            </a:avLst>
          </a:prstGeom>
          <a:solidFill>
            <a:srgbClr val="F4F6F8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53712" y="201168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F6E6E"/>
          </a:solidFill>
          <a:ln/>
        </p:spPr>
      </p:sp>
      <p:sp>
        <p:nvSpPr>
          <p:cNvPr id="11" name="Text 9"/>
          <p:cNvSpPr/>
          <p:nvPr/>
        </p:nvSpPr>
        <p:spPr>
          <a:xfrm>
            <a:off x="4553712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53712" y="26517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Yöntem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53712" y="31089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Gerçek açıklama/rapor değerleri 'çapa noktası' olarak sabitlendi; aradaki haftalar TÜİK nüfusu, il yoğunluk kategorisi ve bilinen mevsimsellik paterniyle istatistiksel olarak tutarlı şekilde dolduruldu.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01584" y="1737360"/>
            <a:ext cx="3520440" cy="4297680"/>
          </a:xfrm>
          <a:prstGeom prst="roundRect">
            <a:avLst>
              <a:gd name="adj" fmla="val 2338"/>
            </a:avLst>
          </a:prstGeom>
          <a:solidFill>
            <a:srgbClr val="F4F6F8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30184" y="201168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8330184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30184" y="26517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Şeffaflık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30184" y="31089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</a:rPr>
              <a:t>Üretilen her satır `kaynak` sütununda etiketlendi: gercek_ceapa / proxy_kalibreli / interpole. Gerçek veri temin edilirse aynı şema ile doğrudan değiştirilebilir.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Kullanılan Fonksiyonlar — Veri Üretimi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</a:rPr>
              <a:t>src/generate_data.py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1292840" cy="484632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526280"/>
              </a:tblGrid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Fonksiyon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Ne Yapar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Neden Kullanıldı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E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mevsim_carpani()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Ay bazında solunum yolu enfeksiyonu mevsimsellik çarpanı üretir (Ekim-Mart ↑, Haziran-Ağustos ↓)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Solunum yolu hastalıklarının Kuzey Yarımküre'de güçlü, tekrarlayan mevsimsel paterni olduğu bilimsel olarak bilinir; bunu modele gömmek gerçekçilik katar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mevsim_carpani_ayarli()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Her hastalık grubuna özgü mevsimsellik 'gücü' (0-1) uygular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Grip çok mevsimsel, Tüberküloz neredeyse mevsimsiz — tek katsayı yerine grup bazlı ayarlanabilirlik gerekti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yogunluk_carpani()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İl nüfus yoğunluk kategorisine (düşük/orta/yüksek) göre çarpan döndürür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Kalabalık/yoğun iller (İstanbul, İzmir) bulaşıcı hastalıklarda tutarlı biçimde daha yüksek insidans gösterir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pandemi_dalga_carpani()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Bilinen COVID-19 dalga tarihlerine yakın haftalarda Gauss-benzeri artış uygular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COVID-19'a özgü, mevsimsellikle açıklanamayan dalga davranışını (Ocak 2022 Omicron zirvesi gibi) yakalamak için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main() — çapa uygulama bloğu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ANCHORS listesindeki gerçek değerleri ilgili il/tarih/hastalık hücresine yazar, kaynak='gercek_ceapa' etiketler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Proxy üretimin gerçek veriyle çelişmemesini ve şeffaf izlenebilirliğini garanti eder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Kullanılan Fonksiyonlar — Temizleme ve Özellik Mühendisliği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</a:rPr>
              <a:t>src/clean_data.py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1292840" cy="484632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251960"/>
              </a:tblGrid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Fonksiyon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Ne Yapar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Neden Kullanıldı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E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clean()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Negatif değer kontrolü, tekilleştirme (il+hastalık+tarih), tam haftalık takvim garantisi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Ham/üretilmiş veri her zaman doğrulanmalı; eksik hafta modelin lag özelliklerini bozar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groupby(...).reindex(full_weeks)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Her il+hastalık kombinasyonunu eksiksiz haftalık zaman eksenine oturtur, boşlukları interpolate eder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LightGBM/SARIMA girdisi düzenli aralıklı zaman serisi bekler; kayıp hafta modelin lag_52 gibi özelliklerini geçersiz kılar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merge(pop, on='il')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Zaman serisini TÜİK nüfus/bölge tablosuyla birleştirir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100binlik oranı mutlak vakaya çevirmek ve bölge bazlı analiz yapabilmek için nüfus şart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groupby(['il','hastalik_grubu'])[...].shift(lag)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lag_1, lag_2, lag_4, lag_52 özelliklerini üretir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Geçmiş haftaların değeri, gelecek haftayı tahmin etmede en güçlü sinyaldir (özellikle lag_52 = geçen yıl aynı hafta, mevsimselliği yakalar)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.rolling(4).mean()/.std()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4 haftalık hareketli ortalama ve standart sapma (shift(1) ile sızıntısız)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Ani dalgalanmaları yumuşatıp trend + volatilite bilgisini modele ayrı ayrı sunar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Kullanılan Fonksiyonlar — Modelleme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</a:rPr>
              <a:t>src/train_models.py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1292840" cy="4846320"/>
        </p:xfrm>
        <a:graphic>
          <a:graphicData uri="http://schemas.openxmlformats.org/drawingml/2006/table">
            <a:tbl>
              <a:tblPr/>
              <a:tblGrid>
                <a:gridCol w="2514600"/>
                <a:gridCol w="4343400"/>
                <a:gridCol w="4434840"/>
              </a:tblGrid>
              <a:tr h="69233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Fonksiyon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Ne Yapar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Neden Kullanıldı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E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turkiye_geneli_seri()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np.average() ile nüfus ağırlıklı Türkiye geneli haftalık seri üretir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Basit ortalama yerine nüfus ağırlıklı ortalama, büyük illerin etkisini doğru yansıtır (İstanbul ≠ Bayburt ağırlığında)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SARIMAX() [statsmodels]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Mevsimsel ARIMA (2,1,2)(1,1,1,52) modeli kurar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Klasik, yorumlanabilir zaman serisi baseline'ı; 52 haftalık mevsimsel bileşeni doğrudan modelleyebiliyor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Prophet() [Meta]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Trend + yıllık mevsimsellik ayrıştıran otomatik model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Az parametre ayarıyla güçlü mevsimsel ayrıştırma yapar; eksik/düzensiz veriye SARIMA'dan daha dayanıklıdır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LGBMRegressor() [LightGBM]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Lag/rolling/takvim özellikleriyle gradient boosting regresyon; hastalık grubu kategorik değişken olarak eklendi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Çoklu il+hastalık serisini TEK modelde havuzlayıp (pooled) genelleme yapabilir; az örnekli kombinasyonlar diğerlerinden öğrenir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mean_squared_error() / mean_absolute_error() [sklearn]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RMSE ve MAE hesaplar (son 12 hafta test seti)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Standart, karşılaştırılabilir hata metrikleri; RMSE büyük sapmalara MAE'den daha duyarlıdır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joblib.dump()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En iyi model + özellik listesi + hastalık grubu kod eşlemesini diske kaydeder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Streamlit uygulamasının modeli her seferinde yeniden eğitmeden, hızlıca yükleyebilmesi için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Kullanılan Fonksiyonlar — Streamlit Panel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</a:rPr>
              <a:t>streamlit_app/app.py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1292840" cy="484632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343400"/>
              </a:tblGrid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Fonksiyon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Ne Yapar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Neden Kullanıldı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E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@st.cache_data / @st.cache_resource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Veri ve model nesnelerini bellekte önbelleğe alır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Her etkileşimde (filtre değişince) veri/model yeniden yüklenmez → panel akıcı çalışır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st.sidebar.selectbox() / multiselect()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Hastalık grubu, il, bölge, tarih aralığı filtrelerini oluşturur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Kullanıcının tek panelden 5 hastalık × 81 il kombinasyonunu keşfedebilmesi için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px.line() / px.bar() [Plotly]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Zaman serisi ve sıralama grafiklerini interaktif çizer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Plotly, matplotlib'e göre zoom/hover gibi interaktiviteyi native destekler — dashboard deneyimi için uygun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model.predict() döngüsü (tab3)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Seçili il+hastalık için özyinelemeli (recursive) 1-8 haftalık ileri tahmin üretir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Gerçek zamanlı, kullanıcı etkileşimli tahmin deneyimi sunmak için — statik grafik yerine canlı hesaplama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st.tabs() / st.metric() / st.dataframe()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4 sekmeli yapı, özet metrik kartları, ham tablo gösterimi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Genel Bakış / Coğrafi Dağılım / Tahmin / Metodoloji ayrımı ile bilgi kirliliğini önlemek için</a:t>
                      </a:r>
                      <a:endParaRPr lang="en-US" sz="105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Özet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</a:rPr>
              <a:t>Tüm pipeline'ın veri-yöntem-araç haritası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82296" cy="658368"/>
          </a:xfrm>
          <a:prstGeom prst="rect">
            <a:avLst/>
          </a:prstGeom>
          <a:solidFill>
            <a:srgbClr val="0F6E6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Veri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017520" y="1737360"/>
            <a:ext cx="8686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TÜİK nüfus + 4 gerçek COVID çapa tarihi + Verem Savaşı yıllık ulusal rapor + WHO/ECDC mevsimsellik paterni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82296" cy="658368"/>
          </a:xfrm>
          <a:prstGeom prst="rect">
            <a:avLst/>
          </a:prstGeom>
          <a:solidFill>
            <a:srgbClr val="D964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57860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Üretim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17520" y="2578608"/>
            <a:ext cx="8686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generate_data.py → mevsim/yoğunluk/pandemi çarpanları ile kalibreli proxy seri (81 il × 5 grup × 208 hafta)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419856"/>
            <a:ext cx="82296" cy="658368"/>
          </a:xfrm>
          <a:prstGeom prst="rect">
            <a:avLst/>
          </a:prstGeom>
          <a:solidFill>
            <a:srgbClr val="0F6E6E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41985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Temizleme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17520" y="3419856"/>
            <a:ext cx="8686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clean_data.py → doğrulama, takvim tamamlama, lag/rolling özellik mühendisliği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61104"/>
            <a:ext cx="82296" cy="658368"/>
          </a:xfrm>
          <a:prstGeom prst="rect">
            <a:avLst/>
          </a:prstGeom>
          <a:solidFill>
            <a:srgbClr val="D9642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261104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Modelleme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017520" y="4261104"/>
            <a:ext cx="8686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SARIMA, Prophet (grup bazlı) + havuzlanmış LightGBM (RMSE≈1.89 tüm gruplarda)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102352"/>
            <a:ext cx="82296" cy="658368"/>
          </a:xfrm>
          <a:prstGeom prst="rect">
            <a:avLst/>
          </a:prstGeom>
          <a:solidFill>
            <a:srgbClr val="0F6E6E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102352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Sunum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017520" y="5102352"/>
            <a:ext cx="8686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Streamlit — 4 sekme, canlı filtre, canlı tahmin, tam metodoloji şeffaflığı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2026-08-18T11:23:26Z</dcterms:created>
  <dcterms:modified xsi:type="dcterms:W3CDTF">2026-08-18T11:23:26Z</dcterms:modified>
</cp:coreProperties>
</file>